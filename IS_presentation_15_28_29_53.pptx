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5" r:id="rId5"/>
    <p:sldId id="261" r:id="rId6"/>
    <p:sldId id="262" r:id="rId7"/>
    <p:sldId id="264" r:id="rId8"/>
    <p:sldId id="265" r:id="rId9"/>
    <p:sldId id="275" r:id="rId10"/>
    <p:sldId id="286" r:id="rId11"/>
    <p:sldId id="284" r:id="rId12"/>
    <p:sldId id="281" r:id="rId13"/>
    <p:sldId id="282" r:id="rId14"/>
    <p:sldId id="283" r:id="rId15"/>
    <p:sldId id="278" r:id="rId16"/>
    <p:sldId id="280" r:id="rId17"/>
    <p:sldId id="270" r:id="rId18"/>
    <p:sldId id="271" r:id="rId19"/>
    <p:sldId id="279" r:id="rId20"/>
    <p:sldId id="272" r:id="rId21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08E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876" y="-90"/>
      </p:cViewPr>
      <p:guideLst>
        <p:guide orient="horz" pos="2160"/>
        <p:guide pos="288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906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14319" y="0"/>
            <a:ext cx="3291681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64819" y="3337560"/>
            <a:ext cx="7020052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69138" y="1544812"/>
            <a:ext cx="7020052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906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614319" y="0"/>
            <a:ext cx="3291681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3583838"/>
            <a:ext cx="718185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2485800"/>
            <a:ext cx="718185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0899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39624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600201"/>
            <a:ext cx="39624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89154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5486400"/>
            <a:ext cx="4376870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032111" y="5486400"/>
            <a:ext cx="4378590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95300" y="1516912"/>
            <a:ext cx="4376870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1516912"/>
            <a:ext cx="4378590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320"/>
            <a:ext cx="8093202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185528"/>
            <a:ext cx="34671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5300" y="214424"/>
            <a:ext cx="29718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95300" y="1981200"/>
            <a:ext cx="767715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36152" y="6422065"/>
            <a:ext cx="825500" cy="365125"/>
          </a:xfrm>
        </p:spPr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793" y="1705709"/>
            <a:ext cx="3308357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54430" y="1019907"/>
            <a:ext cx="44577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9795" y="2998765"/>
            <a:ext cx="3308355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95300" y="6422065"/>
            <a:ext cx="2311400" cy="365125"/>
          </a:xfrm>
        </p:spPr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906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924800" y="0"/>
            <a:ext cx="19812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95300" y="274638"/>
            <a:ext cx="80899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0899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95300" y="6422065"/>
            <a:ext cx="23114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79E32731-B63B-41AA-BC31-9FF99E7443C5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384550" y="6422065"/>
            <a:ext cx="31369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832850" y="6422065"/>
            <a:ext cx="8255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96FDE695-C782-4C89-A2D3-D57417E2C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400" y="2514601"/>
            <a:ext cx="8420100" cy="1470025"/>
          </a:xfrm>
        </p:spPr>
        <p:txBody>
          <a:bodyPr>
            <a:noAutofit/>
          </a:bodyPr>
          <a:lstStyle/>
          <a:p>
            <a:pPr algn="ctr"/>
            <a:r>
              <a:rPr lang="bg-BG" sz="3600" dirty="0" smtClean="0">
                <a:latin typeface="+mn-lt"/>
              </a:rPr>
              <a:t>Информационна система за управление на клуб по настолни игри</a:t>
            </a:r>
            <a:endParaRPr lang="en-US" sz="3600" dirty="0">
              <a:latin typeface="+mn-lt"/>
            </a:endParaRPr>
          </a:p>
        </p:txBody>
      </p:sp>
      <p:pic>
        <p:nvPicPr>
          <p:cNvPr id="1026" name="Picture 2" descr="C:\Users\PC\Desktop\семестър 7\Информационни системи\main project\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495800"/>
            <a:ext cx="3124200" cy="17904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06044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pPr algn="ctr"/>
            <a:r>
              <a:rPr lang="bg-BG" sz="3600" dirty="0">
                <a:latin typeface="+mn-lt"/>
              </a:rPr>
              <a:t>Нашият</a:t>
            </a:r>
            <a:r>
              <a:rPr lang="bg-BG" dirty="0">
                <a:latin typeface="+mn-lt"/>
              </a:rPr>
              <a:t> </a:t>
            </a:r>
            <a:r>
              <a:rPr lang="bg-BG" sz="3600" dirty="0">
                <a:latin typeface="+mn-lt"/>
              </a:rPr>
              <a:t>отбор</a:t>
            </a:r>
            <a:endParaRPr lang="en-US" sz="36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5300" y="2057400"/>
            <a:ext cx="2971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Борислав Борисов</a:t>
            </a:r>
          </a:p>
          <a:p>
            <a:r>
              <a:rPr lang="bg-BG" dirty="0" smtClean="0"/>
              <a:t>Ф.Н</a:t>
            </a:r>
            <a:r>
              <a:rPr lang="bg-BG" dirty="0"/>
              <a:t>. 223028 </a:t>
            </a:r>
            <a:r>
              <a:rPr lang="bg-BG" dirty="0" smtClean="0"/>
              <a:t>2</a:t>
            </a:r>
            <a:r>
              <a:rPr lang="en-US" dirty="0" smtClean="0"/>
              <a:t>6A</a:t>
            </a:r>
            <a:r>
              <a:rPr lang="bg-BG" dirty="0" smtClean="0"/>
              <a:t> </a:t>
            </a:r>
            <a:endParaRPr lang="bg-BG" dirty="0"/>
          </a:p>
          <a:p>
            <a:r>
              <a:rPr lang="bg-BG" altLang="ko-KR" dirty="0"/>
              <a:t>Студент в Русенски университет „Ангел Кънчев“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889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Бисер Ценков</a:t>
            </a:r>
          </a:p>
          <a:p>
            <a:r>
              <a:rPr lang="bg-BG" dirty="0" smtClean="0"/>
              <a:t>Ф.Н</a:t>
            </a:r>
            <a:r>
              <a:rPr lang="bg-BG" dirty="0"/>
              <a:t>. 223029 </a:t>
            </a:r>
            <a:r>
              <a:rPr lang="bg-BG" dirty="0" smtClean="0"/>
              <a:t>2</a:t>
            </a:r>
            <a:r>
              <a:rPr lang="en-US" dirty="0" smtClean="0"/>
              <a:t>6A</a:t>
            </a:r>
            <a:r>
              <a:rPr lang="bg-BG" dirty="0" smtClean="0"/>
              <a:t> </a:t>
            </a:r>
            <a:endParaRPr lang="bg-BG" dirty="0"/>
          </a:p>
          <a:p>
            <a:r>
              <a:rPr lang="bg-BG" altLang="ko-KR" dirty="0"/>
              <a:t>Студент в Русенски университет „Ангел Кънчев“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38900" y="2057400"/>
            <a:ext cx="2971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Кристиян Петров</a:t>
            </a:r>
          </a:p>
          <a:p>
            <a:r>
              <a:rPr lang="bg-BG" dirty="0" smtClean="0"/>
              <a:t>Ф.Н</a:t>
            </a:r>
            <a:r>
              <a:rPr lang="bg-BG" dirty="0"/>
              <a:t>. 223015 </a:t>
            </a:r>
            <a:r>
              <a:rPr lang="bg-BG" dirty="0" smtClean="0"/>
              <a:t>2</a:t>
            </a:r>
            <a:r>
              <a:rPr lang="en-US" dirty="0" smtClean="0"/>
              <a:t>6A</a:t>
            </a:r>
            <a:r>
              <a:rPr lang="bg-BG" dirty="0" smtClean="0"/>
              <a:t> </a:t>
            </a:r>
            <a:endParaRPr lang="bg-BG" dirty="0"/>
          </a:p>
          <a:p>
            <a:r>
              <a:rPr lang="bg-BG" altLang="ko-KR" dirty="0"/>
              <a:t>Студент в Русенски университет „Ангел Кънчев“ </a:t>
            </a:r>
            <a:endParaRPr lang="en-US" dirty="0"/>
          </a:p>
        </p:txBody>
      </p:sp>
      <p:sp>
        <p:nvSpPr>
          <p:cNvPr id="7" name="Правоъгълник 6"/>
          <p:cNvSpPr/>
          <p:nvPr/>
        </p:nvSpPr>
        <p:spPr>
          <a:xfrm>
            <a:off x="6248400" y="4191000"/>
            <a:ext cx="2819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 smtClean="0"/>
              <a:t>Мирослав Павлов</a:t>
            </a:r>
            <a:endParaRPr lang="bg-BG" dirty="0" smtClean="0"/>
          </a:p>
          <a:p>
            <a:r>
              <a:rPr lang="bg-BG" dirty="0" smtClean="0"/>
              <a:t>Ф.Н. </a:t>
            </a:r>
            <a:r>
              <a:rPr lang="bg-BG" dirty="0" smtClean="0"/>
              <a:t>223053 2</a:t>
            </a:r>
            <a:r>
              <a:rPr lang="en-US" dirty="0" smtClean="0"/>
              <a:t>6A</a:t>
            </a:r>
            <a:r>
              <a:rPr lang="bg-BG" dirty="0" smtClean="0"/>
              <a:t> </a:t>
            </a:r>
            <a:endParaRPr lang="bg-BG" dirty="0" smtClean="0"/>
          </a:p>
          <a:p>
            <a:r>
              <a:rPr lang="bg-BG" altLang="ko-KR" dirty="0" smtClean="0"/>
              <a:t>Студент в Русенски университет „Ангел Кънчев“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752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bg-BG" sz="3600" dirty="0">
                <a:latin typeface="+mn-lt"/>
              </a:rPr>
              <a:t>Етапи на проекта 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50926" indent="-514350">
              <a:buFont typeface="+mj-lt"/>
              <a:buAutoNum type="arabicPeriod"/>
            </a:pPr>
            <a:r>
              <a:rPr lang="bg-BG" sz="2400" dirty="0"/>
              <a:t>Анализ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Проектиране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Разработване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Тестване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Представяне</a:t>
            </a:r>
          </a:p>
          <a:p>
            <a:pPr marL="550926" indent="-514350">
              <a:buFont typeface="+mj-lt"/>
              <a:buAutoNum type="arabicPeriod"/>
            </a:pPr>
            <a:r>
              <a:rPr lang="bg-BG" sz="2400" dirty="0"/>
              <a:t>Поддръжка</a:t>
            </a:r>
            <a:endParaRPr lang="en-US" sz="2400" dirty="0"/>
          </a:p>
        </p:txBody>
      </p:sp>
      <p:pic>
        <p:nvPicPr>
          <p:cNvPr id="18434" name="Picture 2" descr="SDLC (Software Development Life Cycle)Phases, Process. What is SDL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600201"/>
            <a:ext cx="5486400" cy="296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5772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Цел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Главната цел на проекта е да се разработи информационна система за управление на клуб по настолни игри. Като нашето решение е игрите да могат да се избират чрез използването на дигитални устройства на масите</a:t>
            </a:r>
            <a:r>
              <a:rPr lang="en-US" dirty="0" smtClean="0"/>
              <a:t>.</a:t>
            </a:r>
            <a:endParaRPr lang="bg-B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609600"/>
            <a:ext cx="8915400" cy="1096962"/>
          </a:xfrm>
        </p:spPr>
        <p:txBody>
          <a:bodyPr>
            <a:noAutofit/>
          </a:bodyPr>
          <a:lstStyle/>
          <a:p>
            <a:pPr algn="ctr"/>
            <a:r>
              <a:rPr lang="bg-BG" altLang="ko-KR" sz="3600" dirty="0">
                <a:latin typeface="+mn-lt"/>
                <a:cs typeface="Arial" pitchFamily="34" charset="0"/>
              </a:rPr>
              <a:t>ФУНКЦИОНАЛНИ ИЗИСКВАНИЯ</a:t>
            </a:r>
            <a:r>
              <a:rPr lang="ko-KR" altLang="en-US" sz="3600" dirty="0">
                <a:latin typeface="+mn-lt"/>
                <a:cs typeface="Arial" pitchFamily="34" charset="0"/>
              </a:rPr>
              <a:t/>
            </a:r>
            <a:br>
              <a:rPr lang="ko-KR" altLang="en-US" sz="3600" dirty="0">
                <a:latin typeface="+mn-lt"/>
                <a:cs typeface="Arial" pitchFamily="34" charset="0"/>
              </a:rPr>
            </a:b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sz="2400" dirty="0" smtClean="0"/>
              <a:t>При игрите да има добавяне, редактиране, преглеждане, и премахване</a:t>
            </a:r>
          </a:p>
          <a:p>
            <a:r>
              <a:rPr lang="bg-BG" sz="2400" dirty="0" smtClean="0"/>
              <a:t>Всяка игра да има описание</a:t>
            </a:r>
          </a:p>
          <a:p>
            <a:r>
              <a:rPr lang="bg-BG" sz="2400" dirty="0" smtClean="0"/>
              <a:t>Да се вижда наличност на всяка игра/маса</a:t>
            </a:r>
          </a:p>
          <a:p>
            <a:r>
              <a:rPr lang="bg-BG" sz="2400" dirty="0" smtClean="0"/>
              <a:t>Да се разглеждат игри от </a:t>
            </a:r>
            <a:r>
              <a:rPr lang="bg-BG" sz="2400" dirty="0" err="1" smtClean="0"/>
              <a:t>таблет</a:t>
            </a:r>
            <a:endParaRPr lang="bg-BG" sz="2400" dirty="0" smtClean="0"/>
          </a:p>
          <a:p>
            <a:r>
              <a:rPr lang="bg-BG" sz="2400" dirty="0" smtClean="0"/>
              <a:t>Да може игрите да се филтрират по различни критерии</a:t>
            </a:r>
          </a:p>
          <a:p>
            <a:r>
              <a:rPr lang="bg-BG" sz="2400" dirty="0" smtClean="0"/>
              <a:t>Да може игрите да се маркират като “избрана”</a:t>
            </a:r>
          </a:p>
          <a:p>
            <a:r>
              <a:rPr lang="bg-BG" sz="2400" dirty="0" smtClean="0"/>
              <a:t>Системата да предоставя основна информация и правила за играта</a:t>
            </a:r>
          </a:p>
          <a:p>
            <a:r>
              <a:rPr lang="bg-BG" sz="2400" dirty="0" smtClean="0"/>
              <a:t>Интерфейсът да е достъпен без регистрация</a:t>
            </a:r>
          </a:p>
          <a:p>
            <a:r>
              <a:rPr lang="bg-BG" sz="2400" dirty="0" smtClean="0"/>
              <a:t>Да може да се следи заетост на игрите</a:t>
            </a:r>
          </a:p>
          <a:p>
            <a:r>
              <a:rPr lang="bg-BG" sz="2400" dirty="0" smtClean="0"/>
              <a:t>Да може да се обновява статуса на игрите в реално време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96960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Autofit/>
          </a:bodyPr>
          <a:lstStyle/>
          <a:p>
            <a:pPr algn="ctr"/>
            <a:r>
              <a:rPr lang="bg-BG" altLang="ko-KR" sz="3600" dirty="0">
                <a:latin typeface="Arial (Body)"/>
                <a:cs typeface="Arial" pitchFamily="34" charset="0"/>
              </a:rPr>
              <a:t>НЕФУНКЦИОНАЛНИ ИЗИСКВАНИЯ</a:t>
            </a:r>
            <a:endParaRPr lang="en-US" sz="3600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sz="2400" dirty="0" smtClean="0"/>
              <a:t>Лесен и интуитивен интерфейс</a:t>
            </a:r>
          </a:p>
          <a:p>
            <a:r>
              <a:rPr lang="bg-BG" sz="2400" dirty="0" smtClean="0"/>
              <a:t>Лесна система подходяща за потребители без компютърна грамотност</a:t>
            </a:r>
          </a:p>
          <a:p>
            <a:r>
              <a:rPr lang="bg-BG" sz="2400" dirty="0" smtClean="0"/>
              <a:t>Лесна навигация</a:t>
            </a:r>
          </a:p>
          <a:p>
            <a:r>
              <a:rPr lang="bg-BG" sz="2400" dirty="0" smtClean="0"/>
              <a:t>Бързо реагираща система</a:t>
            </a:r>
          </a:p>
          <a:p>
            <a:r>
              <a:rPr lang="bg-BG" sz="2400" dirty="0" smtClean="0"/>
              <a:t>Промените в наличността на игрите да се отразяват в реално време</a:t>
            </a:r>
          </a:p>
          <a:p>
            <a:r>
              <a:rPr lang="bg-BG" sz="2400" dirty="0" smtClean="0"/>
              <a:t>Стабилно работеща система</a:t>
            </a:r>
          </a:p>
          <a:p>
            <a:r>
              <a:rPr lang="bg-BG" sz="2400" dirty="0" smtClean="0"/>
              <a:t>Системата да не губи данни при момент на прекъсване</a:t>
            </a:r>
          </a:p>
          <a:p>
            <a:r>
              <a:rPr lang="bg-BG" sz="2400" dirty="0" smtClean="0"/>
              <a:t>Системата да не изисква лични данни освен </a:t>
            </a:r>
            <a:r>
              <a:rPr lang="en-US" sz="2400" dirty="0" smtClean="0"/>
              <a:t>feedback</a:t>
            </a:r>
          </a:p>
          <a:p>
            <a:r>
              <a:rPr lang="bg-BG" sz="2400" dirty="0" smtClean="0"/>
              <a:t>Ограничен достъп до административни функции</a:t>
            </a:r>
          </a:p>
          <a:p>
            <a:r>
              <a:rPr lang="bg-BG" sz="2400" dirty="0" smtClean="0"/>
              <a:t>Интерфейс подходящ за хора с увреждания</a:t>
            </a:r>
          </a:p>
          <a:p>
            <a:r>
              <a:rPr lang="bg-BG" sz="2400" dirty="0" smtClean="0"/>
              <a:t>Да се поддържа поне един чужд език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67614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+mn-lt"/>
                <a:cs typeface="Arial" pitchFamily="34" charset="0"/>
              </a:rPr>
              <a:t>MOSCOW</a:t>
            </a:r>
            <a:r>
              <a:rPr lang="bg-BG" sz="3600" dirty="0">
                <a:latin typeface="+mn-lt"/>
                <a:cs typeface="Arial" pitchFamily="34" charset="0"/>
              </a:rPr>
              <a:t> метод</a:t>
            </a:r>
            <a:endParaRPr lang="en-US" sz="3600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03802667"/>
              </p:ext>
            </p:extLst>
          </p:nvPr>
        </p:nvGraphicFramePr>
        <p:xfrm>
          <a:off x="908050" y="1417638"/>
          <a:ext cx="792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MUST</a:t>
                      </a:r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SHOULD</a:t>
                      </a:r>
                    </a:p>
                  </a:txBody>
                  <a:tcPr marL="99060" marR="9906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COULD</a:t>
                      </a:r>
                    </a:p>
                  </a:txBody>
                  <a:tcPr marL="99060" marR="99060">
                    <a:solidFill>
                      <a:srgbClr val="C08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WONT</a:t>
                      </a:r>
                    </a:p>
                  </a:txBody>
                  <a:tcPr marL="99060" marR="9906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12689405"/>
              </p:ext>
            </p:extLst>
          </p:nvPr>
        </p:nvGraphicFramePr>
        <p:xfrm>
          <a:off x="908050" y="1773238"/>
          <a:ext cx="7924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/>
                        <a:t>разглеждане</a:t>
                      </a:r>
                      <a:r>
                        <a:rPr lang="ru-RU" dirty="0" smtClean="0"/>
                        <a:t> на </a:t>
                      </a:r>
                      <a:r>
                        <a:rPr lang="ru-RU" dirty="0" err="1" smtClean="0"/>
                        <a:t>наличните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настолни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игри</a:t>
                      </a:r>
                      <a:endParaRPr lang="en-US" dirty="0"/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поддържа няколко езика</a:t>
                      </a:r>
                      <a:endParaRPr lang="en-US" dirty="0"/>
                    </a:p>
                  </a:txBody>
                  <a:tcPr marL="99060" marR="9906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Система за оценки и </a:t>
                      </a:r>
                      <a:r>
                        <a:rPr lang="ru-RU" dirty="0" err="1" smtClean="0"/>
                        <a:t>ревюта</a:t>
                      </a:r>
                      <a:r>
                        <a:rPr lang="ru-RU" dirty="0" smtClean="0"/>
                        <a:t> на </a:t>
                      </a:r>
                      <a:r>
                        <a:rPr lang="ru-RU" dirty="0" err="1" smtClean="0"/>
                        <a:t>игри</a:t>
                      </a:r>
                      <a:endParaRPr lang="en-US" dirty="0"/>
                    </a:p>
                  </a:txBody>
                  <a:tcPr marL="99060" marR="99060">
                    <a:solidFill>
                      <a:srgbClr val="C08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Чат</a:t>
                      </a:r>
                      <a:r>
                        <a:rPr lang="bg-BG" baseline="0" dirty="0"/>
                        <a:t> за контакт във реално време</a:t>
                      </a:r>
                      <a:endParaRPr lang="en-US" dirty="0"/>
                    </a:p>
                  </a:txBody>
                  <a:tcPr marL="99060" marR="9906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34086904"/>
              </p:ext>
            </p:extLst>
          </p:nvPr>
        </p:nvGraphicFramePr>
        <p:xfrm>
          <a:off x="908050" y="2687638"/>
          <a:ext cx="5943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филтриране</a:t>
                      </a:r>
                      <a:r>
                        <a:rPr lang="ru-RU" dirty="0" smtClean="0"/>
                        <a:t> на </a:t>
                      </a:r>
                      <a:r>
                        <a:rPr lang="ru-RU" dirty="0" err="1" smtClean="0"/>
                        <a:t>игрите</a:t>
                      </a:r>
                      <a:r>
                        <a:rPr lang="ru-RU" dirty="0" smtClean="0"/>
                        <a:t> по:</a:t>
                      </a:r>
                    </a:p>
                    <a:p>
                      <a:r>
                        <a:rPr lang="ru-RU" dirty="0" err="1" smtClean="0"/>
                        <a:t>брой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играчи</a:t>
                      </a:r>
                      <a:r>
                        <a:rPr lang="ru-RU" dirty="0" smtClean="0"/>
                        <a:t>,</a:t>
                      </a:r>
                    </a:p>
                    <a:p>
                      <a:r>
                        <a:rPr lang="ru-RU" dirty="0" err="1" smtClean="0"/>
                        <a:t>сложност</a:t>
                      </a:r>
                      <a:r>
                        <a:rPr lang="ru-RU" dirty="0" smtClean="0"/>
                        <a:t>,</a:t>
                      </a:r>
                    </a:p>
                    <a:p>
                      <a:r>
                        <a:rPr lang="ru-RU" dirty="0" err="1" smtClean="0"/>
                        <a:t>време</a:t>
                      </a:r>
                      <a:r>
                        <a:rPr lang="ru-RU" dirty="0" smtClean="0"/>
                        <a:t> за игра</a:t>
                      </a:r>
                      <a:endParaRPr lang="ru-RU" dirty="0"/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 smtClean="0"/>
                        <a:t>позволява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преглед</a:t>
                      </a:r>
                      <a:r>
                        <a:rPr lang="ru-RU" dirty="0" smtClean="0"/>
                        <a:t> на история на </a:t>
                      </a:r>
                      <a:r>
                        <a:rPr lang="ru-RU" dirty="0" err="1" smtClean="0"/>
                        <a:t>използваните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игри</a:t>
                      </a:r>
                      <a:endParaRPr lang="en-US" dirty="0"/>
                    </a:p>
                  </a:txBody>
                  <a:tcPr marL="99060" marR="9906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dirty="0" smtClean="0"/>
                        <a:t>Статистика за най-играните игри</a:t>
                      </a:r>
                      <a:endParaRPr lang="en-US" dirty="0"/>
                    </a:p>
                  </a:txBody>
                  <a:tcPr marL="99060" marR="99060">
                    <a:solidFill>
                      <a:srgbClr val="C08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76058825"/>
              </p:ext>
            </p:extLst>
          </p:nvPr>
        </p:nvGraphicFramePr>
        <p:xfrm>
          <a:off x="908050" y="4135438"/>
          <a:ext cx="3962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административен панел за персонала</a:t>
                      </a:r>
                      <a:endParaRPr lang="en-US" dirty="0"/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Търсачка</a:t>
                      </a:r>
                      <a:endParaRPr lang="en-US" dirty="0"/>
                    </a:p>
                  </a:txBody>
                  <a:tcPr marL="99060" marR="9906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97964510"/>
              </p:ext>
            </p:extLst>
          </p:nvPr>
        </p:nvGraphicFramePr>
        <p:xfrm>
          <a:off x="914400" y="5029200"/>
          <a:ext cx="1981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77839">
                <a:tc>
                  <a:txBody>
                    <a:bodyPr/>
                    <a:lstStyle/>
                    <a:p>
                      <a:pPr algn="ctr"/>
                      <a:r>
                        <a:rPr lang="ru-RU" b="1" dirty="0" err="1" smtClean="0"/>
                        <a:t>трябва</a:t>
                      </a:r>
                      <a:r>
                        <a:rPr lang="ru-RU" dirty="0" smtClean="0"/>
                        <a:t> да </a:t>
                      </a:r>
                      <a:r>
                        <a:rPr lang="ru-RU" dirty="0" err="1" smtClean="0"/>
                        <a:t>показва</a:t>
                      </a:r>
                      <a:r>
                        <a:rPr lang="ru-RU" dirty="0" smtClean="0"/>
                        <a:t> статус на </a:t>
                      </a:r>
                      <a:r>
                        <a:rPr lang="ru-RU" dirty="0" err="1" smtClean="0"/>
                        <a:t>играта</a:t>
                      </a:r>
                      <a:endParaRPr lang="en-US" dirty="0"/>
                    </a:p>
                  </a:txBody>
                  <a:tcPr marL="99060" marR="9906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7937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+mn-lt"/>
              </a:rPr>
              <a:t>Flow </a:t>
            </a:r>
            <a:r>
              <a:rPr lang="bg-BG" sz="3600" dirty="0" smtClean="0">
                <a:latin typeface="+mn-lt"/>
              </a:rPr>
              <a:t>модел</a:t>
            </a:r>
            <a:endParaRPr lang="en-US" sz="3600" dirty="0">
              <a:latin typeface="+mn-lt"/>
            </a:endParaRPr>
          </a:p>
        </p:txBody>
      </p:sp>
      <p:pic>
        <p:nvPicPr>
          <p:cNvPr id="2050" name="Picture 2" descr="C:\Users\PC\Desktop\семестър 7\Информационни системи\неща за записка\FlowMode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219200"/>
            <a:ext cx="5343525" cy="4962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59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0A9572-F802-806C-AADB-56C6060E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SEQUENCE</a:t>
            </a:r>
            <a:r>
              <a:rPr lang="bg-BG" sz="3600" dirty="0">
                <a:latin typeface="+mn-lt"/>
              </a:rPr>
              <a:t> </a:t>
            </a:r>
            <a:r>
              <a:rPr lang="bg-BG" sz="3600" dirty="0" smtClean="0">
                <a:latin typeface="+mn-lt"/>
              </a:rPr>
              <a:t>модел</a:t>
            </a:r>
            <a:endParaRPr lang="en-US" sz="3600" dirty="0"/>
          </a:p>
        </p:txBody>
      </p:sp>
      <p:pic>
        <p:nvPicPr>
          <p:cNvPr id="3074" name="Picture 2" descr="C:\Users\PC\Desktop\семестър 7\Информационни системи\неща за записка\sequencemode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1295400"/>
            <a:ext cx="2819400" cy="5410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8448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Story board</a:t>
            </a:r>
            <a:endParaRPr lang="bg-BG" dirty="0"/>
          </a:p>
        </p:txBody>
      </p:sp>
      <p:pic>
        <p:nvPicPr>
          <p:cNvPr id="9218" name="Picture 2" descr="C:\Users\PC\Desktop\семестър 7\Информационни системи\story boar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219200"/>
            <a:ext cx="7086600" cy="53153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Таблица на решения</a:t>
            </a:r>
            <a:endParaRPr lang="bg-BG" dirty="0"/>
          </a:p>
        </p:txBody>
      </p:sp>
      <p:pic>
        <p:nvPicPr>
          <p:cNvPr id="8194" name="Picture 2" descr="C:\Users\PC\Desktop\семестър 7\Информационни системи\неща за записка\Table of decision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0"/>
            <a:ext cx="9309465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DFD 1</a:t>
            </a:r>
            <a:endParaRPr lang="bg-BG" dirty="0"/>
          </a:p>
        </p:txBody>
      </p:sp>
      <p:pic>
        <p:nvPicPr>
          <p:cNvPr id="5122" name="Picture 2" descr="C:\Users\PC\Desktop\семестър 7\Информационни системи\неща за записка\DFD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295400"/>
            <a:ext cx="5167881" cy="52634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DFD 2</a:t>
            </a:r>
            <a:endParaRPr lang="bg-BG" dirty="0"/>
          </a:p>
        </p:txBody>
      </p:sp>
      <p:pic>
        <p:nvPicPr>
          <p:cNvPr id="6146" name="Picture 2" descr="C:\Users\PC\Desktop\семестър 7\Информационни системи\неща за записка\DFD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295400"/>
            <a:ext cx="7772400" cy="54044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DFD 3</a:t>
            </a:r>
            <a:endParaRPr lang="bg-BG" dirty="0"/>
          </a:p>
        </p:txBody>
      </p:sp>
      <p:pic>
        <p:nvPicPr>
          <p:cNvPr id="7170" name="Picture 2" descr="C:\Users\PC\Desktop\семестър 7\Информационни системи\неща за записка\DFD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371600"/>
            <a:ext cx="9067800" cy="4671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94BC5B-3BFB-ABF8-A6F2-1B4F56DB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 anchor="ctr">
            <a:normAutofit/>
          </a:bodyPr>
          <a:lstStyle/>
          <a:p>
            <a:pPr algn="ctr"/>
            <a:r>
              <a:rPr lang="bg-BG" sz="3600" dirty="0" smtClean="0">
                <a:latin typeface="Arial (Body)"/>
              </a:rPr>
              <a:t>Релационен модел</a:t>
            </a:r>
            <a:endParaRPr lang="en-US" sz="3600" dirty="0">
              <a:latin typeface="Arial (Body)"/>
            </a:endParaRPr>
          </a:p>
        </p:txBody>
      </p:sp>
      <p:pic>
        <p:nvPicPr>
          <p:cNvPr id="4098" name="Picture 2" descr="C:\Users\PC\Desktop\семестър 7\Информационни системи\неща за записка\relation diagra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19200"/>
            <a:ext cx="8711863" cy="472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681104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95299" y="274638"/>
            <a:ext cx="9020175" cy="1143000"/>
          </a:xfrm>
        </p:spPr>
        <p:txBody>
          <a:bodyPr>
            <a:normAutofit/>
          </a:bodyPr>
          <a:lstStyle/>
          <a:p>
            <a:pPr algn="ctr"/>
            <a:r>
              <a:rPr lang="bg-BG" sz="3600" dirty="0">
                <a:latin typeface="Arial (Body)"/>
              </a:rPr>
              <a:t>Приложението </a:t>
            </a:r>
            <a:r>
              <a:rPr lang="en-US" sz="3600" dirty="0" smtClean="0">
                <a:latin typeface="Arial (Body)"/>
              </a:rPr>
              <a:t>(alpha </a:t>
            </a:r>
            <a:r>
              <a:rPr lang="bg-BG" sz="3600" dirty="0" smtClean="0">
                <a:latin typeface="Arial (Body)"/>
              </a:rPr>
              <a:t>версия</a:t>
            </a:r>
            <a:r>
              <a:rPr lang="bg-BG" sz="3600" dirty="0" smtClean="0">
                <a:latin typeface="Arial (Body)"/>
              </a:rPr>
              <a:t>)</a:t>
            </a:r>
            <a:endParaRPr lang="bg-BG" sz="3600" dirty="0">
              <a:latin typeface="Arial (Body)"/>
            </a:endParaRPr>
          </a:p>
        </p:txBody>
      </p:sp>
      <p:pic>
        <p:nvPicPr>
          <p:cNvPr id="10242" name="Picture 2" descr="C:\Users\PC\Desktop\семестър 7\Информационни системи\prototype exampl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76400"/>
            <a:ext cx="6164262" cy="3286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bg-BG" sz="3600" dirty="0">
                <a:latin typeface="+mn-lt"/>
              </a:rPr>
              <a:t>Тестване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/>
              <a:t>Прототипът е тестван ръчно от разработчиците</a:t>
            </a:r>
          </a:p>
          <a:p>
            <a:r>
              <a:rPr lang="bg-BG" sz="2400" dirty="0"/>
              <a:t>Правят се и автоматични тестове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821152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bg-BG" sz="3600" dirty="0">
                <a:latin typeface="+mn-lt"/>
              </a:rPr>
              <a:t>Процес на работа	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/>
              <a:t>През работния процес екипът се събираше всяка сряда в </a:t>
            </a:r>
            <a:r>
              <a:rPr lang="en-US" sz="2400" dirty="0"/>
              <a:t>Discord</a:t>
            </a:r>
            <a:r>
              <a:rPr lang="bg-BG" sz="2400" dirty="0"/>
              <a:t>, като се отделяха по 2 часа за разпределяне на задачи и обсъждане на потенциални затруднения</a:t>
            </a:r>
            <a:r>
              <a:rPr lang="en-US" sz="2400" dirty="0"/>
              <a:t>.</a:t>
            </a:r>
            <a:r>
              <a:rPr lang="bg-BG" sz="2400" dirty="0"/>
              <a:t> Както и обмен на ценни знания.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658491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53500" cy="1143000"/>
          </a:xfrm>
        </p:spPr>
        <p:txBody>
          <a:bodyPr/>
          <a:lstStyle/>
          <a:p>
            <a:pPr algn="ctr"/>
            <a:r>
              <a:rPr lang="bg-BG" sz="3600" dirty="0">
                <a:latin typeface="+mn-lt"/>
              </a:rPr>
              <a:t>Заключение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 smtClean="0"/>
              <a:t>Една от най-развлекателните дейности е да излезеш навън с някой приятел или цяла компания. А клубът ни е едно от местата в които ще си прекараш изключително добре, колкото и хора да сте се събрали. Той освен забава придава и уют, а с нашите иновации улесняваме всички. Като цяло настолните игри могат да ни научат на много неща като търпеливост, спокойствие, как да не падаме по гръб, съревнователност и даже може да придобием полезни знания.</a:t>
            </a:r>
            <a:endParaRPr lang="bg-BG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bg-BG" sz="3600" dirty="0">
                <a:latin typeface="+mn-lt"/>
              </a:rPr>
              <a:t>Благодаря</a:t>
            </a:r>
            <a:r>
              <a:rPr lang="en-US" sz="3600" dirty="0">
                <a:latin typeface="+mn-lt"/>
              </a:rPr>
              <a:t> </a:t>
            </a:r>
            <a:r>
              <a:rPr lang="bg-BG" sz="3600" dirty="0">
                <a:latin typeface="+mn-lt"/>
              </a:rPr>
              <a:t>Ви за вниманието</a:t>
            </a:r>
            <a:endParaRPr lang="en-US" sz="3600" dirty="0">
              <a:latin typeface="+mn-lt"/>
            </a:endParaRPr>
          </a:p>
        </p:txBody>
      </p:sp>
      <p:pic>
        <p:nvPicPr>
          <p:cNvPr id="3" name="Контейнер за съдържание 3" descr="the en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0" y="1433465"/>
            <a:ext cx="6858000" cy="374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7377863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831</TotalTime>
  <Words>492</Words>
  <Application>Microsoft Office PowerPoint</Application>
  <PresentationFormat>Хартия A4 (210x297 мм)</PresentationFormat>
  <Paragraphs>81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20</vt:i4>
      </vt:variant>
    </vt:vector>
  </HeadingPairs>
  <TitlesOfParts>
    <vt:vector size="21" baseType="lpstr">
      <vt:lpstr>Technic</vt:lpstr>
      <vt:lpstr>Информационна система за управление на клуб по настолни игри</vt:lpstr>
      <vt:lpstr>Нашият отбор</vt:lpstr>
      <vt:lpstr>Етапи на проекта </vt:lpstr>
      <vt:lpstr>Цел</vt:lpstr>
      <vt:lpstr>ФУНКЦИОНАЛНИ ИЗИСКВАНИЯ </vt:lpstr>
      <vt:lpstr>НЕФУНКЦИОНАЛНИ ИЗИСКВАНИЯ</vt:lpstr>
      <vt:lpstr>MOSCOW метод</vt:lpstr>
      <vt:lpstr>Flow модел</vt:lpstr>
      <vt:lpstr>SEQUENCE модел</vt:lpstr>
      <vt:lpstr>Story board</vt:lpstr>
      <vt:lpstr>Таблица на решения</vt:lpstr>
      <vt:lpstr>DFD 1</vt:lpstr>
      <vt:lpstr>DFD 2</vt:lpstr>
      <vt:lpstr>DFD 3</vt:lpstr>
      <vt:lpstr>Релационен модел</vt:lpstr>
      <vt:lpstr>Приложението (alpha версия)</vt:lpstr>
      <vt:lpstr>Тестване</vt:lpstr>
      <vt:lpstr>Процес на работа </vt:lpstr>
      <vt:lpstr>Заключение</vt:lpstr>
      <vt:lpstr>Благодаря Ви за вниманието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Електронен конфигуратор за компютърни системи</dc:title>
  <dc:creator>krisi</dc:creator>
  <cp:lastModifiedBy>PC</cp:lastModifiedBy>
  <cp:revision>48</cp:revision>
  <dcterms:created xsi:type="dcterms:W3CDTF">2024-12-07T13:34:53Z</dcterms:created>
  <dcterms:modified xsi:type="dcterms:W3CDTF">2025-12-15T01:53:48Z</dcterms:modified>
</cp:coreProperties>
</file>